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76" r:id="rId4"/>
    <p:sldId id="259" r:id="rId5"/>
    <p:sldId id="260" r:id="rId6"/>
    <p:sldId id="261" r:id="rId7"/>
    <p:sldId id="262" r:id="rId8"/>
    <p:sldId id="271" r:id="rId9"/>
    <p:sldId id="272" r:id="rId10"/>
    <p:sldId id="273" r:id="rId11"/>
    <p:sldId id="277" r:id="rId12"/>
    <p:sldId id="278" r:id="rId13"/>
    <p:sldId id="279" r:id="rId14"/>
    <p:sldId id="280" r:id="rId15"/>
    <p:sldId id="281" r:id="rId16"/>
    <p:sldId id="263" r:id="rId17"/>
    <p:sldId id="264" r:id="rId18"/>
    <p:sldId id="274" r:id="rId19"/>
    <p:sldId id="275" r:id="rId20"/>
    <p:sldId id="266" r:id="rId21"/>
    <p:sldId id="267" r:id="rId22"/>
    <p:sldId id="268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A2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89EA4-FF76-C010-E765-46F86378B4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EB512D-26FC-C7A7-7378-44A6FA5D89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78B0C3-526C-EEF0-D056-4D0E43C52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76888-EB9E-4603-A456-76C2E3AD3CC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1F9818-605A-2265-EE05-5773D4F9C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E0F0E0-9D1B-3F60-78D9-3BD4775C0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58315-892E-4D13-9429-D974BBA7B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364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673D5-402E-4911-ACC1-8A4E01307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2241A-F01D-9340-0136-33B1D791B3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2AB563-6299-50A5-AD02-42E1C6691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76888-EB9E-4603-A456-76C2E3AD3CC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1934CA-0370-00FE-F973-EA6B79F8D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FB56BB-3A2E-761D-E817-86193B017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58315-892E-4D13-9429-D974BBA7B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369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F2741-791B-5903-A7A1-261D5066A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D89671-496C-824C-DA5C-B4FB59A226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DA389C-3BB9-44C6-8E34-E34F54ED3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76888-EB9E-4603-A456-76C2E3AD3CC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77800-681B-6921-6EB4-117843F40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8CABE-36EB-8368-19D5-404823020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58315-892E-4D13-9429-D974BBA7B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745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8E05C-888F-66A6-DC16-BBBF44812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A8B08-2C93-F764-9CA4-7FB71527B3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AEF505-2E27-D2BE-767C-3F9BC9EB7D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F48608-D5A0-573E-D1D2-278E6C27C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76888-EB9E-4603-A456-76C2E3AD3CC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49CCBE-11F1-4FD3-CF0A-2E5E3AC95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01186-5921-D1FF-B811-EFDF64516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58315-892E-4D13-9429-D974BBA7B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44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A055A-AD33-B7F4-150A-36DD37645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FE25D1-7CF0-B1C0-DFA4-7B36C9F30E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60DD9C-BB09-8678-2A81-33A89815B3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46A460-179F-CD1D-F6A8-20F1D2C412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96D4F1-1DCA-4AC5-FF6B-D18DC27D48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26EC4A-EC18-A872-6C64-57460655C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76888-EB9E-4603-A456-76C2E3AD3CC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2B2420-53AF-F7BC-AB0E-9960C8CD2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172C03-E86B-1905-85BA-D3AB9E415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58315-892E-4D13-9429-D974BBA7B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624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16BAD-96FD-26CD-B596-41E79464B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65B52A-EA8F-90C1-FA3E-182A26109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76888-EB9E-4603-A456-76C2E3AD3CC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77B476-A099-461D-1E1E-03BC8BF5F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BC1485-E875-7E5E-1250-200051C75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58315-892E-4D13-9429-D974BBA7B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727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371435-AAF4-E438-524F-6099B3920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76888-EB9E-4603-A456-76C2E3AD3CC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309A94-46B3-747C-35C9-8959F2514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5BB422-6C62-41BF-2382-A6E607813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58315-892E-4D13-9429-D974BBA7B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3501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3BBD0-F408-5DC6-97E0-B20B1B6B2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E8D6BE-DE00-4407-D631-15ED0430E4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4856B1-BEDF-D460-D0E3-CB80693040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482C4B-0583-4C2B-06F7-A4DE35247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76888-EB9E-4603-A456-76C2E3AD3CC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CAA50D-04B6-9809-4E57-25C47ED5F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CDD1CE-BBC7-6B0B-81E1-8A638A0AA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58315-892E-4D13-9429-D974BBA7B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991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819CF-BF77-3FC2-DAD1-EF141897A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351626-F82B-5518-8B55-3748CA3AAD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9818AC-2BD8-36C2-FA63-0F5F6C87EB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6452D5-543A-5D4A-8EEC-7F7969927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76888-EB9E-4603-A456-76C2E3AD3CC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3429BE-673E-22F1-FCE4-464EEC6C4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5D7428-6593-72AD-AAA4-B6D5E6BAC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58315-892E-4D13-9429-D974BBA7B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567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0636E-918A-C414-6C9D-F222A3D0C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589787-4FE9-667A-4133-2286804B5F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171A3C-89A9-0B24-193F-45FD12AD4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76888-EB9E-4603-A456-76C2E3AD3CC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05792-EDFA-693C-3888-9DC943E5F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D7A929-CBE0-3A0B-50B7-ECD7B6443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58315-892E-4D13-9429-D974BBA7B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820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3C1F3F-1122-81EE-2955-9FA74C10D3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CF2C7A-66C8-FAC3-001B-B9CCCF5F5C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F86EC7-EFF2-7F48-F7E3-6BA98A5F2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76888-EB9E-4603-A456-76C2E3AD3CC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A667C4-1892-D5D8-F794-DC8252C8A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959A-76D4-49E6-8319-9C5DD73A0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58315-892E-4D13-9429-D974BBA7B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505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25D0A5-CE45-4AA4-832C-5CBADF5E2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AE2110-0B76-FF1B-0650-A115F0E5C4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B12A95-106C-CEE7-95FA-53BFCEAF0C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276888-EB9E-4603-A456-76C2E3AD3CC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53777-2121-33F2-C34F-ABDE70BB12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C2F14-2B73-CD98-A5DC-0DBB7CF8A3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258315-892E-4D13-9429-D974BBA7B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165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0EF7C-89D2-A7D6-DEA8-4D6A6ABA1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4816"/>
            <a:ext cx="10515600" cy="2227246"/>
          </a:xfrm>
        </p:spPr>
        <p:txBody>
          <a:bodyPr>
            <a:noAutofit/>
          </a:bodyPr>
          <a:lstStyle/>
          <a:p>
            <a:pPr algn="ctr"/>
            <a:r>
              <a:rPr lang="en-US" sz="6800" b="1" kern="100" dirty="0">
                <a:solidFill>
                  <a:schemeClr val="accent6">
                    <a:lumMod val="75000"/>
                  </a:schemeClr>
                </a:solidFill>
                <a:effectLst/>
                <a:latin typeface="Algerian" panose="04020705040A02060702" pitchFamily="82" charset="0"/>
                <a:ea typeface="Calibri" panose="020F0502020204030204" pitchFamily="34" charset="0"/>
                <a:cs typeface="Times New Roman" panose="02020603050405020304" pitchFamily="18" charset="0"/>
              </a:rPr>
              <a:t>Analyzing Automobile Engine Impact on MPG</a:t>
            </a:r>
            <a:endParaRPr lang="en-US" sz="6800" dirty="0">
              <a:solidFill>
                <a:schemeClr val="accent6">
                  <a:lumMod val="75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D3B33B-F3C6-5E3F-E5CD-026BD8BA43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09187"/>
            <a:ext cx="10515600" cy="3683688"/>
          </a:xfrm>
        </p:spPr>
        <p:txBody>
          <a:bodyPr>
            <a:normAutofit/>
          </a:bodyPr>
          <a:lstStyle/>
          <a:p>
            <a:pPr marL="0" marR="0" lvl="0" indent="0" algn="ctr">
              <a:lnSpc>
                <a:spcPct val="115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endParaRPr lang="en-US" sz="4000" b="1" kern="100" dirty="0">
              <a:solidFill>
                <a:schemeClr val="accent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ctr">
              <a:lnSpc>
                <a:spcPct val="115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3200" b="1" kern="100" dirty="0">
                <a:effectLst/>
                <a:latin typeface="Berlin Sans FB Demi" panose="020E08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INTRODUCTION TO DATA SCIENCE</a:t>
            </a:r>
          </a:p>
          <a:p>
            <a:pPr marL="0" marR="0" lvl="0" indent="0" algn="ctr">
              <a:lnSpc>
                <a:spcPct val="115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3200" b="1" kern="100" dirty="0">
                <a:effectLst/>
                <a:latin typeface="Berlin Sans FB Demi" panose="020E08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FINAL PROJECT</a:t>
            </a:r>
          </a:p>
          <a:p>
            <a:pPr marL="0" marR="0" lvl="0" indent="0" algn="ctr">
              <a:lnSpc>
                <a:spcPct val="115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endParaRPr lang="en-US" sz="1800" b="1" kern="100" dirty="0">
              <a:latin typeface="Bahnschrift SemiCondensed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15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1800" b="1" kern="100" dirty="0">
                <a:effectLst/>
                <a:latin typeface="Bahnschrift SemiBol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By Rableen Kaur Kapoor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4013FD-351F-89DB-6EE6-B65B444DF5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2234" y="3497393"/>
            <a:ext cx="3271465" cy="3271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8495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4A22F-27C3-893D-258E-4BF26B35A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b="1" kern="100" dirty="0">
                <a:effectLst/>
                <a:latin typeface="Algerian" panose="04020705040A02060702" pitchFamily="82" charset="0"/>
                <a:ea typeface="Calibri" panose="020F0502020204030204" pitchFamily="34" charset="0"/>
                <a:cs typeface="Times New Roman" panose="02020603050405020304" pitchFamily="18" charset="0"/>
              </a:rPr>
              <a:t>Project Objectives and Dataset Overview</a:t>
            </a:r>
            <a:endParaRPr lang="en-US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76E1D-CF8E-647B-5AA7-17EDCA5B3C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Objective: </a:t>
            </a:r>
            <a:r>
              <a:rPr lang="en-US" dirty="0"/>
              <a:t>Analyze the relationship between engine factors and MPG using statistical methods.</a:t>
            </a:r>
          </a:p>
          <a:p>
            <a:r>
              <a:rPr lang="en-US" b="1" dirty="0"/>
              <a:t>Dataset: </a:t>
            </a:r>
            <a:r>
              <a:rPr lang="en-US" dirty="0"/>
              <a:t>auto-mpg.csv (398 rows, 9 columns).</a:t>
            </a:r>
          </a:p>
          <a:p>
            <a:r>
              <a:rPr lang="en-US" b="1" dirty="0"/>
              <a:t>Key Features: </a:t>
            </a:r>
            <a:r>
              <a:rPr lang="en-US" dirty="0"/>
              <a:t>MPG, Cylinders, Displacement, Horsepower, Weight, Acceleration, Model Year, Origin, Car Name.</a:t>
            </a:r>
          </a:p>
          <a:p>
            <a:r>
              <a:rPr lang="en-US" b="1" dirty="0"/>
              <a:t>Approach: </a:t>
            </a:r>
            <a:r>
              <a:rPr lang="en-US" dirty="0"/>
              <a:t>Data exploration, linear regression, model validation, visualizations.</a:t>
            </a:r>
          </a:p>
        </p:txBody>
      </p:sp>
    </p:spTree>
    <p:extLst>
      <p:ext uri="{BB962C8B-B14F-4D97-AF65-F5344CB8AC3E}">
        <p14:creationId xmlns:p14="http://schemas.microsoft.com/office/powerpoint/2010/main" val="2709716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7D4E0F9-2BDF-2BAB-E7D2-EC2E938B08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8021" y="159645"/>
            <a:ext cx="6926379" cy="653870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4F1ADB9-8F87-729C-0E49-75E992C0D245}"/>
              </a:ext>
            </a:extLst>
          </p:cNvPr>
          <p:cNvSpPr/>
          <p:nvPr/>
        </p:nvSpPr>
        <p:spPr>
          <a:xfrm>
            <a:off x="8809808" y="2893100"/>
            <a:ext cx="230415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 CODE</a:t>
            </a:r>
          </a:p>
        </p:txBody>
      </p:sp>
    </p:spTree>
    <p:extLst>
      <p:ext uri="{BB962C8B-B14F-4D97-AF65-F5344CB8AC3E}">
        <p14:creationId xmlns:p14="http://schemas.microsoft.com/office/powerpoint/2010/main" val="1581863535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F8B9C-54D4-6974-2F15-AFD917E2F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b="1" kern="100" dirty="0">
                <a:effectLst/>
                <a:latin typeface="Algerian" panose="04020705040A02060702" pitchFamily="82" charset="0"/>
                <a:ea typeface="Calibri" panose="020F0502020204030204" pitchFamily="34" charset="0"/>
                <a:cs typeface="Times New Roman" panose="02020603050405020304" pitchFamily="18" charset="0"/>
              </a:rPr>
              <a:t>Data Exploration: Summary Statistics</a:t>
            </a:r>
            <a:endParaRPr lang="en-US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3A9A8-2BF5-3F90-CBF9-1E5CC9C30D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Dataset Size: </a:t>
            </a:r>
            <a:r>
              <a:rPr lang="en-US" dirty="0"/>
              <a:t>398 rows, 9 columns.MPG Range: 9–46.6 (Mean: 23.5).</a:t>
            </a:r>
          </a:p>
          <a:p>
            <a:r>
              <a:rPr lang="en-US" b="1" dirty="0"/>
              <a:t>Horsepower Range: </a:t>
            </a:r>
            <a:r>
              <a:rPr lang="en-US" dirty="0"/>
              <a:t>46–230 (Mean: 104.5).</a:t>
            </a:r>
          </a:p>
          <a:p>
            <a:r>
              <a:rPr lang="en-US" b="1" dirty="0"/>
              <a:t>Weight Range: </a:t>
            </a:r>
            <a:r>
              <a:rPr lang="en-US" dirty="0"/>
              <a:t>1613–5140 </a:t>
            </a:r>
            <a:r>
              <a:rPr lang="en-US" dirty="0" err="1"/>
              <a:t>lbs</a:t>
            </a:r>
            <a:r>
              <a:rPr lang="en-US" dirty="0"/>
              <a:t> (Mean: 2970.4).</a:t>
            </a:r>
          </a:p>
          <a:p>
            <a:r>
              <a:rPr lang="en-US" b="1" dirty="0"/>
              <a:t>Missing Values: </a:t>
            </a:r>
            <a:r>
              <a:rPr lang="en-US" dirty="0"/>
              <a:t>Handled in horsepower (replaced with median).</a:t>
            </a:r>
          </a:p>
        </p:txBody>
      </p:sp>
    </p:spTree>
    <p:extLst>
      <p:ext uri="{BB962C8B-B14F-4D97-AF65-F5344CB8AC3E}">
        <p14:creationId xmlns:p14="http://schemas.microsoft.com/office/powerpoint/2010/main" val="2877218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6142C-8396-A833-1093-C85EDDD6A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b="1" kern="100" dirty="0">
                <a:effectLst/>
                <a:latin typeface="Algerian" panose="04020705040A02060702" pitchFamily="82" charset="0"/>
                <a:ea typeface="Calibri" panose="020F0502020204030204" pitchFamily="34" charset="0"/>
                <a:cs typeface="Times New Roman" panose="02020603050405020304" pitchFamily="18" charset="0"/>
              </a:rPr>
              <a:t>Data Exploration: Visualizations</a:t>
            </a:r>
            <a:endParaRPr lang="en-US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A65E91-8A7F-ED0C-87EA-DB638F8906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Scatter Plot: </a:t>
            </a:r>
            <a:r>
              <a:rPr lang="en-US" dirty="0"/>
              <a:t>MPG vs. Horsepower (negative correlation).</a:t>
            </a:r>
          </a:p>
          <a:p>
            <a:r>
              <a:rPr lang="en-US" b="1" dirty="0"/>
              <a:t>Scatter Plot: </a:t>
            </a:r>
            <a:r>
              <a:rPr lang="en-US" dirty="0"/>
              <a:t>MPG vs. Weight (strong negative correlation).</a:t>
            </a:r>
          </a:p>
          <a:p>
            <a:r>
              <a:rPr lang="en-US" b="1" dirty="0"/>
              <a:t>Boxplot: </a:t>
            </a:r>
            <a:r>
              <a:rPr lang="en-US" dirty="0"/>
              <a:t>MPG by Number of Cylinders (fewer cylinders, higher MPG).</a:t>
            </a:r>
          </a:p>
        </p:txBody>
      </p:sp>
    </p:spTree>
    <p:extLst>
      <p:ext uri="{BB962C8B-B14F-4D97-AF65-F5344CB8AC3E}">
        <p14:creationId xmlns:p14="http://schemas.microsoft.com/office/powerpoint/2010/main" val="755977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531CD-BE68-E0B3-F954-D970558E3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b="1" kern="100" dirty="0">
                <a:effectLst/>
                <a:latin typeface="Algerian" panose="04020705040A02060702" pitchFamily="82" charset="0"/>
                <a:ea typeface="Calibri" panose="020F0502020204030204" pitchFamily="34" charset="0"/>
                <a:cs typeface="Times New Roman" panose="02020603050405020304" pitchFamily="18" charset="0"/>
              </a:rPr>
              <a:t>Simple Linear Regression: MPG vs. Horsepower</a:t>
            </a:r>
            <a:endParaRPr lang="en-US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2C617-C355-91F8-64C8-E661BFD0A5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Model: </a:t>
            </a:r>
            <a:r>
              <a:rPr lang="en-US" dirty="0"/>
              <a:t>MPG = </a:t>
            </a:r>
            <a:r>
              <a:rPr lang="el-GR" dirty="0"/>
              <a:t>β₀ + β₁ * </a:t>
            </a:r>
            <a:r>
              <a:rPr lang="en-US" dirty="0"/>
              <a:t>Horsepower</a:t>
            </a:r>
          </a:p>
          <a:p>
            <a:r>
              <a:rPr lang="en-US" b="1" dirty="0"/>
              <a:t>Data: </a:t>
            </a:r>
            <a:r>
              <a:rPr lang="en-US" dirty="0"/>
              <a:t>First 300 rows (training set).</a:t>
            </a:r>
          </a:p>
          <a:p>
            <a:r>
              <a:rPr lang="en-US" b="1" dirty="0"/>
              <a:t>R Code: </a:t>
            </a:r>
            <a:r>
              <a:rPr lang="en-US" dirty="0" err="1"/>
              <a:t>lm</a:t>
            </a:r>
            <a:r>
              <a:rPr lang="en-US" dirty="0"/>
              <a:t>(mpg ~ horsepower, data = </a:t>
            </a:r>
            <a:r>
              <a:rPr lang="en-US" dirty="0" err="1"/>
              <a:t>train_data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18238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7A8E8-911C-39CE-10EE-CDD3E5221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b="1" kern="100" dirty="0">
                <a:effectLst/>
                <a:latin typeface="Algerian" panose="04020705040A02060702" pitchFamily="82" charset="0"/>
                <a:ea typeface="Calibri" panose="020F0502020204030204" pitchFamily="34" charset="0"/>
                <a:cs typeface="Times New Roman" panose="02020603050405020304" pitchFamily="18" charset="0"/>
              </a:rPr>
              <a:t>Multiple Linear Regression: MPG vs. Multiple Features</a:t>
            </a:r>
            <a:endParaRPr lang="en-US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63F30-28A5-2228-5096-A6145C7B66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Model: </a:t>
            </a:r>
            <a:r>
              <a:rPr lang="en-US" dirty="0"/>
              <a:t>MPG = </a:t>
            </a:r>
            <a:r>
              <a:rPr lang="el-GR" dirty="0"/>
              <a:t>β₀ + β₁ * </a:t>
            </a:r>
            <a:r>
              <a:rPr lang="en-US" dirty="0"/>
              <a:t>Cylinders + </a:t>
            </a:r>
            <a:r>
              <a:rPr lang="el-GR" dirty="0"/>
              <a:t>β₂ * </a:t>
            </a:r>
            <a:r>
              <a:rPr lang="en-US" dirty="0"/>
              <a:t>Displacement + </a:t>
            </a:r>
            <a:r>
              <a:rPr lang="el-GR" dirty="0"/>
              <a:t>β₃ * </a:t>
            </a:r>
            <a:r>
              <a:rPr lang="en-US" dirty="0"/>
              <a:t>Horsepower + </a:t>
            </a:r>
            <a:r>
              <a:rPr lang="el-GR" dirty="0"/>
              <a:t>β₄ * </a:t>
            </a:r>
            <a:r>
              <a:rPr lang="en-US" dirty="0"/>
              <a:t>Weight + </a:t>
            </a:r>
            <a:r>
              <a:rPr lang="el-GR" dirty="0"/>
              <a:t>β₅ * </a:t>
            </a:r>
            <a:r>
              <a:rPr lang="en-US" dirty="0"/>
              <a:t>Acceleration + </a:t>
            </a:r>
            <a:r>
              <a:rPr lang="el-GR" dirty="0"/>
              <a:t>β₆ * </a:t>
            </a:r>
            <a:r>
              <a:rPr lang="en-US" dirty="0"/>
              <a:t>Model Year + </a:t>
            </a:r>
            <a:r>
              <a:rPr lang="el-GR" dirty="0"/>
              <a:t>β₇ * </a:t>
            </a:r>
            <a:r>
              <a:rPr lang="en-US" dirty="0"/>
              <a:t>Origin</a:t>
            </a:r>
          </a:p>
          <a:p>
            <a:pPr marL="0" indent="0">
              <a:buNone/>
            </a:pPr>
            <a:r>
              <a:rPr lang="en-US" b="1" dirty="0"/>
              <a:t>Data: </a:t>
            </a:r>
            <a:r>
              <a:rPr lang="en-US" dirty="0"/>
              <a:t>First 300 rows (training set).</a:t>
            </a:r>
          </a:p>
          <a:p>
            <a:pPr marL="0" indent="0">
              <a:buNone/>
            </a:pPr>
            <a:r>
              <a:rPr lang="en-US" b="1" dirty="0"/>
              <a:t>R Code: </a:t>
            </a:r>
            <a:r>
              <a:rPr lang="en-US" dirty="0" err="1"/>
              <a:t>lm</a:t>
            </a:r>
            <a:r>
              <a:rPr lang="en-US" dirty="0"/>
              <a:t>(mpg ~ cylinder + displacement + horsepower + weight + acceleration + </a:t>
            </a:r>
            <a:r>
              <a:rPr lang="en-US" dirty="0" err="1"/>
              <a:t>model.year</a:t>
            </a:r>
            <a:r>
              <a:rPr lang="en-US" dirty="0"/>
              <a:t> + origin, data = </a:t>
            </a:r>
            <a:r>
              <a:rPr lang="en-US" dirty="0" err="1"/>
              <a:t>train_data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0670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049F719-A029-8C8A-B342-31385E2D11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4314" y="1232848"/>
            <a:ext cx="7683372" cy="51965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70B4CBC-1AC5-A205-8803-B88DB2697741}"/>
              </a:ext>
            </a:extLst>
          </p:cNvPr>
          <p:cNvSpPr/>
          <p:nvPr/>
        </p:nvSpPr>
        <p:spPr>
          <a:xfrm>
            <a:off x="694532" y="356110"/>
            <a:ext cx="10802957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lgerian" panose="04020705040A02060702" pitchFamily="82" charset="0"/>
              </a:rPr>
              <a:t>Scatter Plot: MPG vs Horsepower in R Studio</a:t>
            </a:r>
          </a:p>
        </p:txBody>
      </p:sp>
    </p:spTree>
    <p:extLst>
      <p:ext uri="{BB962C8B-B14F-4D97-AF65-F5344CB8AC3E}">
        <p14:creationId xmlns:p14="http://schemas.microsoft.com/office/powerpoint/2010/main" val="560945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75DF9A1-851C-07F5-4C9D-78BC0D8F62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9213" y="1160114"/>
            <a:ext cx="8073573" cy="536062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9821EC0-B186-9F7B-286E-EE1365BAF9B1}"/>
              </a:ext>
            </a:extLst>
          </p:cNvPr>
          <p:cNvSpPr/>
          <p:nvPr/>
        </p:nvSpPr>
        <p:spPr>
          <a:xfrm>
            <a:off x="1322899" y="337257"/>
            <a:ext cx="954620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lgerian" panose="04020705040A02060702" pitchFamily="82" charset="0"/>
              </a:rPr>
              <a:t>Scatter Plot: MPG vs Weight in R Studio</a:t>
            </a:r>
          </a:p>
        </p:txBody>
      </p:sp>
    </p:spTree>
    <p:extLst>
      <p:ext uri="{BB962C8B-B14F-4D97-AF65-F5344CB8AC3E}">
        <p14:creationId xmlns:p14="http://schemas.microsoft.com/office/powerpoint/2010/main" val="4226125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A083391-36A9-A897-AB2C-A3020CE2BC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7938" y="1220323"/>
            <a:ext cx="7896121" cy="51873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96E3F47-7BF7-3D41-43FB-9AEA2BD9A539}"/>
              </a:ext>
            </a:extLst>
          </p:cNvPr>
          <p:cNvSpPr/>
          <p:nvPr/>
        </p:nvSpPr>
        <p:spPr>
          <a:xfrm>
            <a:off x="245680" y="450377"/>
            <a:ext cx="11700639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lgerian" panose="04020705040A02060702" pitchFamily="82" charset="0"/>
              </a:rPr>
              <a:t>Box Plot: MPG vs Number of Cylinders in R Studio</a:t>
            </a:r>
          </a:p>
        </p:txBody>
      </p:sp>
    </p:spTree>
    <p:extLst>
      <p:ext uri="{BB962C8B-B14F-4D97-AF65-F5344CB8AC3E}">
        <p14:creationId xmlns:p14="http://schemas.microsoft.com/office/powerpoint/2010/main" val="2417198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C7DA8B-50E4-207A-DD2A-5708437879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1652" y="934605"/>
            <a:ext cx="7188693" cy="576533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3A7F5B6-35B9-8043-B796-9EE6825DAB3C}"/>
              </a:ext>
            </a:extLst>
          </p:cNvPr>
          <p:cNvSpPr/>
          <p:nvPr/>
        </p:nvSpPr>
        <p:spPr>
          <a:xfrm>
            <a:off x="1670749" y="288274"/>
            <a:ext cx="885050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dirty="0">
                <a:latin typeface="Algerian" panose="04020705040A02060702" pitchFamily="82" charset="0"/>
              </a:rPr>
              <a:t>Automobile Dataset using TABLEAU </a:t>
            </a:r>
            <a:endParaRPr lang="en-US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1060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455E96-B230-C3D5-F3BF-D60A20662C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31"/>
          <a:stretch/>
        </p:blipFill>
        <p:spPr>
          <a:xfrm>
            <a:off x="3854522" y="1110693"/>
            <a:ext cx="4482952" cy="549013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1C27C86-FEFF-A399-FF61-D29931F46308}"/>
              </a:ext>
            </a:extLst>
          </p:cNvPr>
          <p:cNvSpPr/>
          <p:nvPr/>
        </p:nvSpPr>
        <p:spPr>
          <a:xfrm>
            <a:off x="345065" y="365537"/>
            <a:ext cx="11501867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lgerian" panose="04020705040A02060702" pitchFamily="82" charset="0"/>
              </a:rPr>
              <a:t>Scatter Plot of MPG vs Horsepower In Tableau</a:t>
            </a:r>
          </a:p>
        </p:txBody>
      </p:sp>
    </p:spTree>
    <p:extLst>
      <p:ext uri="{BB962C8B-B14F-4D97-AF65-F5344CB8AC3E}">
        <p14:creationId xmlns:p14="http://schemas.microsoft.com/office/powerpoint/2010/main" val="2643038638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CAF0F9-A43D-70A1-0EA3-AD6513DEDE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9476" y="1272619"/>
            <a:ext cx="4476748" cy="534206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52EB60E-E257-06A9-64A7-052F09931776}"/>
              </a:ext>
            </a:extLst>
          </p:cNvPr>
          <p:cNvSpPr/>
          <p:nvPr/>
        </p:nvSpPr>
        <p:spPr>
          <a:xfrm>
            <a:off x="927585" y="309307"/>
            <a:ext cx="10360529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lgerian" panose="04020705040A02060702" pitchFamily="82" charset="0"/>
              </a:rPr>
              <a:t>Scatter Plot of MPG vs Weight in Tableau </a:t>
            </a:r>
          </a:p>
        </p:txBody>
      </p:sp>
    </p:spTree>
    <p:extLst>
      <p:ext uri="{BB962C8B-B14F-4D97-AF65-F5344CB8AC3E}">
        <p14:creationId xmlns:p14="http://schemas.microsoft.com/office/powerpoint/2010/main" val="400708714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99C8C6-3029-A96A-9796-DA35DC1617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6485" y="1244338"/>
            <a:ext cx="4559030" cy="541787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82039A0-DA53-259D-A258-931BB2DA085C}"/>
              </a:ext>
            </a:extLst>
          </p:cNvPr>
          <p:cNvSpPr/>
          <p:nvPr/>
        </p:nvSpPr>
        <p:spPr>
          <a:xfrm>
            <a:off x="167133" y="290056"/>
            <a:ext cx="11857733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lgerian" panose="04020705040A02060702" pitchFamily="82" charset="0"/>
              </a:rPr>
              <a:t>Scatter Plot of MPG vs Displacement in Tableau</a:t>
            </a:r>
          </a:p>
        </p:txBody>
      </p:sp>
    </p:spTree>
    <p:extLst>
      <p:ext uri="{BB962C8B-B14F-4D97-AF65-F5344CB8AC3E}">
        <p14:creationId xmlns:p14="http://schemas.microsoft.com/office/powerpoint/2010/main" val="81258956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9C0F4A-4B40-5E93-49BC-E71F91CCB2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3708" y="1319753"/>
            <a:ext cx="4464582" cy="533503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A37C98A-CA84-4A6E-AD5C-77730E515DC3}"/>
              </a:ext>
            </a:extLst>
          </p:cNvPr>
          <p:cNvSpPr/>
          <p:nvPr/>
        </p:nvSpPr>
        <p:spPr>
          <a:xfrm>
            <a:off x="412392" y="354040"/>
            <a:ext cx="1136721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lgerian" panose="04020705040A02060702" pitchFamily="82" charset="0"/>
              </a:rPr>
              <a:t>Scatter Plot of MPG vs Model Year in Tableau</a:t>
            </a:r>
          </a:p>
        </p:txBody>
      </p:sp>
    </p:spTree>
    <p:extLst>
      <p:ext uri="{BB962C8B-B14F-4D97-AF65-F5344CB8AC3E}">
        <p14:creationId xmlns:p14="http://schemas.microsoft.com/office/powerpoint/2010/main" val="2015842169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2B1D1-F60A-89AE-F60D-B5886163E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b="1" kern="100" dirty="0">
                <a:effectLst/>
                <a:latin typeface="Algerian" panose="04020705040A02060702" pitchFamily="82" charset="0"/>
                <a:ea typeface="Calibri" panose="020F0502020204030204" pitchFamily="34" charset="0"/>
                <a:cs typeface="Times New Roman" panose="02020603050405020304" pitchFamily="18" charset="0"/>
              </a:rPr>
              <a:t>R Code Explanation: Data Preparation and Modeling</a:t>
            </a:r>
            <a:endParaRPr lang="en-US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B83684-0E93-4CF1-3110-9E2DA94B6D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Libraries: </a:t>
            </a:r>
            <a:r>
              <a:rPr lang="en-US" dirty="0" err="1"/>
              <a:t>tidyverse</a:t>
            </a:r>
            <a:r>
              <a:rPr lang="en-US" dirty="0"/>
              <a:t>, ggplot2, broom, caret.</a:t>
            </a:r>
          </a:p>
          <a:p>
            <a:r>
              <a:rPr lang="en-US" b="1" dirty="0"/>
              <a:t>Data Cleaning: </a:t>
            </a:r>
            <a:r>
              <a:rPr lang="en-US" dirty="0"/>
              <a:t>Replaced missing horsepower values with median.</a:t>
            </a:r>
          </a:p>
          <a:p>
            <a:r>
              <a:rPr lang="en-US" b="1" dirty="0"/>
              <a:t>Data Splitting: </a:t>
            </a:r>
            <a:r>
              <a:rPr lang="en-US" dirty="0"/>
              <a:t>300 rows for training, 98 for testing.</a:t>
            </a:r>
          </a:p>
          <a:p>
            <a:r>
              <a:rPr lang="en-US" b="1" dirty="0"/>
              <a:t>Modeling: </a:t>
            </a:r>
            <a:r>
              <a:rPr lang="en-US" dirty="0"/>
              <a:t>Simple and multiple linear regression using </a:t>
            </a:r>
            <a:r>
              <a:rPr lang="en-US" dirty="0" err="1"/>
              <a:t>lm</a:t>
            </a:r>
            <a:r>
              <a:rPr lang="en-US" dirty="0"/>
              <a:t>().</a:t>
            </a:r>
          </a:p>
          <a:p>
            <a:r>
              <a:rPr lang="en-US" b="1" dirty="0"/>
              <a:t>Metrics Logging: </a:t>
            </a:r>
            <a:r>
              <a:rPr lang="en-US" dirty="0"/>
              <a:t>Stored R-squared, equations in a data frame.</a:t>
            </a:r>
          </a:p>
        </p:txBody>
      </p:sp>
    </p:spTree>
    <p:extLst>
      <p:ext uri="{BB962C8B-B14F-4D97-AF65-F5344CB8AC3E}">
        <p14:creationId xmlns:p14="http://schemas.microsoft.com/office/powerpoint/2010/main" val="4134945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D83E9-D567-E8A2-30A2-A5C7C6E82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b="1" kern="100" dirty="0">
                <a:effectLst/>
                <a:latin typeface="Algerian" panose="04020705040A02060702" pitchFamily="82" charset="0"/>
                <a:ea typeface="Calibri" panose="020F0502020204030204" pitchFamily="34" charset="0"/>
                <a:cs typeface="Times New Roman" panose="02020603050405020304" pitchFamily="18" charset="0"/>
              </a:rPr>
              <a:t>R Code Explanation: Predictions and Visualizations</a:t>
            </a:r>
            <a:endParaRPr lang="en-US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B033B2-C5EB-8C86-E095-A1686D863B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Predictions: </a:t>
            </a:r>
            <a:r>
              <a:rPr lang="en-US" dirty="0"/>
              <a:t>Used predict() on test data with multiple linear model.</a:t>
            </a:r>
          </a:p>
          <a:p>
            <a:r>
              <a:rPr lang="en-US" b="1" dirty="0"/>
              <a:t>Validation Metrics: </a:t>
            </a:r>
            <a:r>
              <a:rPr lang="en-US" dirty="0"/>
              <a:t>Calculated RMSE and MAE.</a:t>
            </a:r>
          </a:p>
          <a:p>
            <a:r>
              <a:rPr lang="en-US" b="1" dirty="0"/>
              <a:t>Visualizations: </a:t>
            </a:r>
            <a:r>
              <a:rPr lang="en-US" dirty="0"/>
              <a:t>Residual plot and histogram using ggplot2.</a:t>
            </a:r>
          </a:p>
          <a:p>
            <a:r>
              <a:rPr lang="en-US" b="1" dirty="0"/>
              <a:t>Export: </a:t>
            </a:r>
            <a:r>
              <a:rPr lang="en-US" dirty="0"/>
              <a:t>Saved plots as PNGs for PowerPoint/Tableau, metrics as CSVs.</a:t>
            </a:r>
          </a:p>
        </p:txBody>
      </p:sp>
    </p:spTree>
    <p:extLst>
      <p:ext uri="{BB962C8B-B14F-4D97-AF65-F5344CB8AC3E}">
        <p14:creationId xmlns:p14="http://schemas.microsoft.com/office/powerpoint/2010/main" val="2151578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79590F3-2D95-1281-BF90-53CF6C7AD0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7332" y="1113477"/>
            <a:ext cx="8107153" cy="538292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7C206A8-6EF3-1644-8522-A5C9DC244A75}"/>
              </a:ext>
            </a:extLst>
          </p:cNvPr>
          <p:cNvSpPr/>
          <p:nvPr/>
        </p:nvSpPr>
        <p:spPr>
          <a:xfrm>
            <a:off x="1626836" y="167574"/>
            <a:ext cx="8448146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lgerian" panose="04020705040A02060702" pitchFamily="82" charset="0"/>
              </a:rPr>
              <a:t>Residual Plot using R Studio</a:t>
            </a:r>
          </a:p>
        </p:txBody>
      </p:sp>
    </p:spTree>
    <p:extLst>
      <p:ext uri="{BB962C8B-B14F-4D97-AF65-F5344CB8AC3E}">
        <p14:creationId xmlns:p14="http://schemas.microsoft.com/office/powerpoint/2010/main" val="138345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D2DA5CC-BEBB-184A-E4C8-CAB2563F3B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6189" y="1107034"/>
            <a:ext cx="8167349" cy="544174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E2B23C8-C99C-1A9C-E9B4-ED3F5200B1A5}"/>
              </a:ext>
            </a:extLst>
          </p:cNvPr>
          <p:cNvSpPr/>
          <p:nvPr/>
        </p:nvSpPr>
        <p:spPr>
          <a:xfrm>
            <a:off x="447478" y="101587"/>
            <a:ext cx="11344772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lgerian" panose="04020705040A02060702" pitchFamily="82" charset="0"/>
              </a:rPr>
              <a:t>Histogram of Residuals using R Studio</a:t>
            </a:r>
          </a:p>
        </p:txBody>
      </p:sp>
    </p:spTree>
    <p:extLst>
      <p:ext uri="{BB962C8B-B14F-4D97-AF65-F5344CB8AC3E}">
        <p14:creationId xmlns:p14="http://schemas.microsoft.com/office/powerpoint/2010/main" val="2261910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7163B-A8A9-06EA-B380-E27CF62E2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b="1" kern="100" dirty="0">
                <a:effectLst/>
                <a:latin typeface="Algerian" panose="04020705040A02060702" pitchFamily="82" charset="0"/>
                <a:ea typeface="Calibri" panose="020F0502020204030204" pitchFamily="34" charset="0"/>
                <a:cs typeface="Times New Roman" panose="02020603050405020304" pitchFamily="18" charset="0"/>
              </a:rPr>
              <a:t>Key Findings and Insights</a:t>
            </a:r>
            <a:endParaRPr lang="en-US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02F9C-7522-910D-29AE-7D4DA6E073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Weight and horsepower are the strongest negative predictors of MPG.</a:t>
            </a:r>
          </a:p>
          <a:p>
            <a:r>
              <a:rPr lang="en-US" dirty="0"/>
              <a:t>Later model years and non-US origins (Europe, Japan) improve MPG.</a:t>
            </a:r>
          </a:p>
          <a:p>
            <a:r>
              <a:rPr lang="en-US" dirty="0"/>
              <a:t>Multiple linear regression outperforms simple regression.</a:t>
            </a:r>
          </a:p>
          <a:p>
            <a:r>
              <a:rPr lang="en-US" dirty="0"/>
              <a:t>Model predicts test data with RMSE and MAE.</a:t>
            </a:r>
          </a:p>
        </p:txBody>
      </p:sp>
    </p:spTree>
    <p:extLst>
      <p:ext uri="{BB962C8B-B14F-4D97-AF65-F5344CB8AC3E}">
        <p14:creationId xmlns:p14="http://schemas.microsoft.com/office/powerpoint/2010/main" val="27444060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96262-3508-A4BD-D27B-B850D691B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b="1" kern="100" dirty="0">
                <a:effectLst/>
                <a:latin typeface="Algerian" panose="04020705040A02060702" pitchFamily="82" charset="0"/>
                <a:ea typeface="Calibri" panose="020F0502020204030204" pitchFamily="34" charset="0"/>
                <a:cs typeface="Times New Roman" panose="02020603050405020304" pitchFamily="18" charset="0"/>
              </a:rPr>
              <a:t>Conclusion</a:t>
            </a:r>
            <a:endParaRPr lang="en-US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EB84B-AD7D-CD8C-0858-72DC7F1A94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Successfully built and validated linear regression models to predict MPG.</a:t>
            </a:r>
          </a:p>
          <a:p>
            <a:r>
              <a:rPr lang="en-US" dirty="0"/>
              <a:t>Multiple regression provides better explanatory power than simple regression.</a:t>
            </a:r>
          </a:p>
          <a:p>
            <a:r>
              <a:rPr lang="en-US" b="1" dirty="0"/>
              <a:t>Key drivers of MPG: </a:t>
            </a:r>
            <a:r>
              <a:rPr lang="en-US" dirty="0"/>
              <a:t>Low weight, low horsepower, recent model years, non-US origin.</a:t>
            </a:r>
          </a:p>
          <a:p>
            <a:r>
              <a:rPr lang="en-US" b="1" dirty="0"/>
              <a:t>Limitations: </a:t>
            </a:r>
            <a:r>
              <a:rPr lang="en-US" dirty="0"/>
              <a:t>Some residuals indicate potential outliers; model could be enhanced with nonlinear methods.</a:t>
            </a:r>
          </a:p>
          <a:p>
            <a:pPr marL="0" indent="0">
              <a:buNone/>
            </a:pPr>
            <a:r>
              <a:rPr lang="en-US" dirty="0"/>
              <a:t>Visual: Image of a fuel-efficient car or a checkmark icon.</a:t>
            </a:r>
          </a:p>
        </p:txBody>
      </p:sp>
    </p:spTree>
    <p:extLst>
      <p:ext uri="{BB962C8B-B14F-4D97-AF65-F5344CB8AC3E}">
        <p14:creationId xmlns:p14="http://schemas.microsoft.com/office/powerpoint/2010/main" val="2383169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AE23B-9413-AA5C-1BEB-CDCD76B8A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b="1" kern="100" dirty="0">
                <a:effectLst/>
                <a:latin typeface="Algerian" panose="04020705040A02060702" pitchFamily="82" charset="0"/>
                <a:ea typeface="Calibri" panose="020F0502020204030204" pitchFamily="34" charset="0"/>
                <a:cs typeface="Times New Roman" panose="02020603050405020304" pitchFamily="18" charset="0"/>
              </a:rPr>
              <a:t>Recommendations</a:t>
            </a:r>
            <a:endParaRPr lang="en-US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AE25F0-1B02-FE3E-64C5-B6CAB0E957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Manufacturers: </a:t>
            </a:r>
            <a:r>
              <a:rPr lang="en-US" dirty="0"/>
              <a:t>Focus on reducing vehicle weight and optimizing horsepower.</a:t>
            </a:r>
          </a:p>
          <a:p>
            <a:r>
              <a:rPr lang="en-US" b="1" dirty="0"/>
              <a:t>Consumers: </a:t>
            </a:r>
            <a:r>
              <a:rPr lang="en-US" dirty="0"/>
              <a:t>Prioritize cars from Japan/Europe or newer models for better MPG.</a:t>
            </a:r>
          </a:p>
          <a:p>
            <a:r>
              <a:rPr lang="en-US" b="1" dirty="0"/>
              <a:t>Future Work: </a:t>
            </a:r>
            <a:r>
              <a:rPr lang="en-US" dirty="0"/>
              <a:t>Explore nonlinear models, additional features, or larger datasets.</a:t>
            </a:r>
          </a:p>
          <a:p>
            <a:pPr marL="0" indent="0">
              <a:buNone/>
            </a:pPr>
            <a:r>
              <a:rPr lang="en-US" dirty="0"/>
              <a:t>Thank You!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F29056-3BBB-CEAB-DA86-9C164EA58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2698" y="4188401"/>
            <a:ext cx="3947502" cy="218713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043828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404</TotalTime>
  <Words>659</Words>
  <Application>Microsoft Office PowerPoint</Application>
  <PresentationFormat>Widescreen</PresentationFormat>
  <Paragraphs>66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Algerian</vt:lpstr>
      <vt:lpstr>Arial</vt:lpstr>
      <vt:lpstr>Bahnschrift SemiBold</vt:lpstr>
      <vt:lpstr>Bahnschrift SemiCondensed</vt:lpstr>
      <vt:lpstr>Berlin Sans FB Demi</vt:lpstr>
      <vt:lpstr>Calibri</vt:lpstr>
      <vt:lpstr>Calibri Light</vt:lpstr>
      <vt:lpstr>Office Theme</vt:lpstr>
      <vt:lpstr>Analyzing Automobile Engine Impact on MPG</vt:lpstr>
      <vt:lpstr>Project Objectives and Dataset Overview</vt:lpstr>
      <vt:lpstr>PowerPoint Presentation</vt:lpstr>
      <vt:lpstr>Data Exploration: Summary Statistics</vt:lpstr>
      <vt:lpstr>Data Exploration: Visualizations</vt:lpstr>
      <vt:lpstr>Simple Linear Regression: MPG vs. Horsepower</vt:lpstr>
      <vt:lpstr>Multiple Linear Regression: MPG vs. Multiple Features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 Code Explanation: Data Preparation and Modeling</vt:lpstr>
      <vt:lpstr>R Code Explanation: Predictions and Visualizations</vt:lpstr>
      <vt:lpstr>PowerPoint Presentation</vt:lpstr>
      <vt:lpstr>PowerPoint Presentation</vt:lpstr>
      <vt:lpstr>Key Findings and Insights</vt:lpstr>
      <vt:lpstr>Conclusion</vt:lpstr>
      <vt:lpstr>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Rableen Kapoor</dc:creator>
  <cp:lastModifiedBy>Rableen Kapoor</cp:lastModifiedBy>
  <cp:revision>8</cp:revision>
  <dcterms:created xsi:type="dcterms:W3CDTF">2025-04-29T19:57:23Z</dcterms:created>
  <dcterms:modified xsi:type="dcterms:W3CDTF">2025-12-29T22:35:38Z</dcterms:modified>
</cp:coreProperties>
</file>